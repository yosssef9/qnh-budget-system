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640080"/>
            <a:ext cx="3749040" cy="0"/>
          </a:xfrm>
          <a:prstGeom prst="line">
            <a:avLst/>
          </a:prstGeom>
          <a:noFill/>
          <a:ln w="12700">
            <a:solidFill>
              <a:srgbClr val="1E5AA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3568" y="1325880"/>
            <a:ext cx="3749040" cy="0"/>
          </a:xfrm>
          <a:prstGeom prst="line">
            <a:avLst/>
          </a:prstGeom>
          <a:noFill/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73568" y="2011680"/>
            <a:ext cx="3749040" cy="0"/>
          </a:xfrm>
          <a:prstGeom prst="line">
            <a:avLst/>
          </a:prstGeom>
          <a:noFill/>
          <a:ln w="12700">
            <a:solidFill>
              <a:srgbClr val="1E5AA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73568" y="2697480"/>
            <a:ext cx="3749040" cy="0"/>
          </a:xfrm>
          <a:prstGeom prst="line">
            <a:avLst/>
          </a:prstGeom>
          <a:noFill/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73568" y="3383280"/>
            <a:ext cx="3749040" cy="0"/>
          </a:xfrm>
          <a:prstGeom prst="line">
            <a:avLst/>
          </a:prstGeom>
          <a:noFill/>
          <a:ln w="12700">
            <a:solidFill>
              <a:srgbClr val="1E5AA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3568" y="4069080"/>
            <a:ext cx="3749040" cy="0"/>
          </a:xfrm>
          <a:prstGeom prst="line">
            <a:avLst/>
          </a:prstGeom>
          <a:noFill/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73568" y="4754880"/>
            <a:ext cx="3749040" cy="0"/>
          </a:xfrm>
          <a:prstGeom prst="line">
            <a:avLst/>
          </a:prstGeom>
          <a:noFill/>
          <a:ln w="12700">
            <a:solidFill>
              <a:srgbClr val="1E5AA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73568" y="5440680"/>
            <a:ext cx="3749040" cy="0"/>
          </a:xfrm>
          <a:prstGeom prst="line">
            <a:avLst/>
          </a:prstGeom>
          <a:noFill/>
          <a:ln w="12700">
            <a:solidFill>
              <a:srgbClr val="0F766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078992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QNH Budget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Management System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Executive presentation for CFO, finance leadership, hospital executives, and department directors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4315968"/>
            <a:ext cx="1238098" cy="804672"/>
          </a:xfrm>
          <a:prstGeom prst="roundRect">
            <a:avLst>
              <a:gd name="adj" fmla="val 10227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95121" y="4453128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8273" y="4518965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77240" y="4828032"/>
            <a:ext cx="111008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Plan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 rot="5400000">
            <a:off x="1955902" y="4645152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61058" y="4315968"/>
            <a:ext cx="1238098" cy="804672"/>
          </a:xfrm>
          <a:prstGeom prst="roundRect">
            <a:avLst>
              <a:gd name="adj" fmla="val 10227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42946" y="445312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6098" y="4518965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125066" y="4828032"/>
            <a:ext cx="111008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 rot="5400000">
            <a:off x="3303727" y="4645152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8883" y="4315968"/>
            <a:ext cx="1238098" cy="804672"/>
          </a:xfrm>
          <a:prstGeom prst="roundRect">
            <a:avLst>
              <a:gd name="adj" fmla="val 10227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90772" y="445312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63924" y="4518965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472891" y="4828032"/>
            <a:ext cx="111008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Control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 rot="5400000">
            <a:off x="4651553" y="4645152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6709" y="4315968"/>
            <a:ext cx="1238098" cy="804672"/>
          </a:xfrm>
          <a:prstGeom prst="roundRect">
            <a:avLst>
              <a:gd name="adj" fmla="val 10227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38598" y="445312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11750" y="4518965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4820717" y="4828032"/>
            <a:ext cx="111008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Procure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 rot="5400000">
            <a:off x="5999378" y="4645152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04534" y="4315968"/>
            <a:ext cx="1238098" cy="804672"/>
          </a:xfrm>
          <a:prstGeom prst="roundRect">
            <a:avLst>
              <a:gd name="adj" fmla="val 10227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86423" y="4453128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9575" y="4518965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168542" y="4828032"/>
            <a:ext cx="111008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Analyze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8961120" y="63276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6E4F0"/>
                </a:solidFill>
              </a:rPr>
              <a:t>Qassim National Hospital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The executive story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controlled finance platform connecting planning, approvals, procurement, and decision support.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Executive Summary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72974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67790" y="155448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0942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704088" y="1929384"/>
            <a:ext cx="16017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Business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Problems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74392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79548" y="1417320"/>
            <a:ext cx="1729740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7258" y="155448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0410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543556" y="1929384"/>
            <a:ext cx="16017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Governed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Solution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213860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9016" y="1417320"/>
            <a:ext cx="1729740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46726" y="155448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9878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383024" y="1929384"/>
            <a:ext cx="16017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Controlled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Process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6053328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58484" y="1417320"/>
            <a:ext cx="1729740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86194" y="15544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9346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6222492" y="1929384"/>
            <a:ext cx="16017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Financial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Visibility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7892796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97952" y="1417320"/>
            <a:ext cx="1729740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725662" y="15544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98814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061960" y="1929384"/>
            <a:ext cx="16017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Decision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Support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 rot="5400000">
            <a:off x="9732264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37420" y="1417320"/>
            <a:ext cx="172974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565130" y="155448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38282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9901428" y="1929384"/>
            <a:ext cx="16017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Future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Vision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749808" y="29718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" y="2971800"/>
            <a:ext cx="73152" cy="1143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" y="31272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GOVERNANCE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50976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One lifecycle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950976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Planning to audit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429000" y="29718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429000" y="297180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0168" y="31272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CONTROL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30168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Approval gates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3630168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Budgets, transfers, POs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6108192" y="29718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108192" y="297180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31272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INTELLIGENCE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09360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Price context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6309360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Historical benchmark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8787384" y="2971800"/>
            <a:ext cx="24231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787384" y="2971800"/>
            <a:ext cx="73152" cy="11430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88552" y="312724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VISIBILITY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988552" y="34290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Dashboards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988552" y="3867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Leadership oversight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914400" y="4828032"/>
            <a:ext cx="98755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• Improves financial discipline, not only data entry.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• Makes procurement activity visible against approved budgets.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• Gives approvers evidence before committing financial plans.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CONTEXT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Business challenges before the system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Manual budget coordination created visibility gaps, approval friction, and weaker procurement traceability.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Context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3977640"/>
                <a:gridCol w="484632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With QNH Budget System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planning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Manual formats and repeated follow-up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Structured by year, department, category, and item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Approval review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Limited price and status context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Central queue with item-level evidence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Procurement linkage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usage disconnected from budgets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Approved PO links update consumption visibility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Audit readiness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Scattered records and emails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Traceable workflow and action history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14400" y="4828032"/>
            <a:ext cx="10012680" cy="713232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43000" y="50749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Executive implication: Finance leadership moves from manual reconciliation to controlled, visible, evidence-based budget governance.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SOLUTION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System overview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platform manages the full lifecycle from annual planning through procurement-linked consumption and reporting.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Solution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39734" y="155448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2886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594360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Financial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Year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028009" y="180136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3165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2547" y="155448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5699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197173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Planning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3630821" y="180136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5977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5359" y="155448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18511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3799985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Approval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5233634" y="180136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38790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8172" y="15544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1324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5402798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Transfers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6836446" y="180136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1602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50985" y="155448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4137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005610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PO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Linking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 rot="5400000">
            <a:off x="8439259" y="180136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44415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53797" y="15544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26949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608423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Consumption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 rot="5400000">
            <a:off x="10042071" y="180136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47227" y="1417320"/>
            <a:ext cx="1493085" cy="914400"/>
          </a:xfrm>
          <a:prstGeom prst="roundRect">
            <a:avLst>
              <a:gd name="adj" fmla="val 9000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756610" y="155448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29762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0211235" y="1929384"/>
            <a:ext cx="1365069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Analytics &amp;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Reporting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731520" y="2971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932688" y="3182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AA8"/>
                </a:solidFill>
              </a:rPr>
              <a:t>Planning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32688" y="3584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Financial years, budgets, categories, item types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3520440" y="2971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721608" y="3182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Control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721608" y="3584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Approvals, returns, transfers, permissions</a:t>
            </a:r>
            <a:endParaRPr lang="en-US" sz="960" dirty="0"/>
          </a:p>
        </p:txBody>
      </p:sp>
      <p:sp>
        <p:nvSpPr>
          <p:cNvPr id="48" name="Shape 46"/>
          <p:cNvSpPr/>
          <p:nvPr/>
        </p:nvSpPr>
        <p:spPr>
          <a:xfrm>
            <a:off x="6309360" y="2971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10528" y="3182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Procurement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510528" y="3584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PO links, item mappings, consumption tracking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9098280" y="2971800"/>
            <a:ext cx="2487168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9299448" y="31821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</a:rPr>
              <a:t>Insight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299448" y="3584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75569"/>
                </a:solidFill>
              </a:rPr>
              <a:t>Price Intelligence, analytics, dashboards, reports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OPERATING MODEL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Stakeholders and responsibilities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Each stakeholder group receives a role-specific view of actions, controls, and accountability.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Operating Model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4526280"/>
        </p:xfrm>
        <a:graphic>
          <a:graphicData uri="http://schemas.openxmlformats.org/drawingml/2006/table">
            <a:tbl>
              <a:tblPr/>
              <a:tblGrid>
                <a:gridCol w="2240280"/>
                <a:gridCol w="4663440"/>
                <a:gridCol w="4069080"/>
              </a:tblGrid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Core responsibility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Executive value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Department Heads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Create budgets, submit requests, respond to returns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Planning discipline and ownership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Approvers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Review, approve, return, compare, challenge prices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Better approval decisions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Finance Leadership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Monitor risk, controls, exposure, reporting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Financial governance visibility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Procurement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Connect POs to approved budget items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Procurement transparency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Administrators / Auditors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Manage access, configuration, logs, evidence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Control and audit readiness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CFO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Oversee financial discipline and executive reporting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Strategic accountability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5852160" cy="5852160"/>
          </a:xfrm>
          <a:prstGeom prst="arc">
            <a:avLst/>
          </a:prstGeom>
          <a:solidFill>
            <a:srgbClr val="1E5AA8">
              <a:alpha val="22000"/>
            </a:srgbClr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D7FF"/>
                </a:solidFill>
              </a:rPr>
              <a:t>GOVERNANCE &amp; PLANNING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From annual control to approved budget plans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Financial years, budget creation, approval, and feedback create the controlled planning backbone.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2103120" cy="0"/>
          </a:xfrm>
          <a:prstGeom prst="line">
            <a:avLst/>
          </a:prstGeom>
          <a:noFill/>
          <a:ln w="38100">
            <a:solidFill>
              <a:srgbClr val="1E5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Governance &amp; Planning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GOVERNANCE &amp;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Financial year governance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Status controls define when planning is active, closure is prepared, and the year is locked.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Governance &amp; Planning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" y="1417320"/>
            <a:ext cx="3310128" cy="1188720"/>
          </a:xfrm>
          <a:prstGeom prst="roundRect">
            <a:avLst>
              <a:gd name="adj" fmla="val 6923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23744" y="15544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069848" y="1929384"/>
            <a:ext cx="31821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OPEN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Active planning and approvals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4320540" y="19385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5696" y="1417320"/>
            <a:ext cx="3310128" cy="1188720"/>
          </a:xfrm>
          <a:prstGeom prst="roundRect">
            <a:avLst>
              <a:gd name="adj" fmla="val 6923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5544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89704" y="1929384"/>
            <a:ext cx="31821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PRE-CLOSING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Resolve remaining activities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7740396" y="19385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1417320"/>
            <a:ext cx="3310128" cy="1188720"/>
          </a:xfrm>
          <a:prstGeom prst="roundRect">
            <a:avLst>
              <a:gd name="adj" fmla="val 6923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63456" y="1554480"/>
            <a:ext cx="274320" cy="27432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909560" y="1929384"/>
            <a:ext cx="318211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CLOSED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Historical reporting and lock</a:t>
            </a:r>
            <a:endParaRPr lang="en-US" sz="93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154680"/>
          <a:ext cx="10744200" cy="2148840"/>
        </p:xfrm>
        <a:graphic>
          <a:graphicData uri="http://schemas.openxmlformats.org/drawingml/2006/table">
            <a:tbl>
              <a:tblPr/>
              <a:tblGrid>
                <a:gridCol w="1417320"/>
                <a:gridCol w="3337560"/>
                <a:gridCol w="2926080"/>
                <a:gridCol w="306324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Allowed actions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Restricted actions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Business value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OPEN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Create, edit, submit, approve budgets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Closure not final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Active annual planning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PRE-CLOSING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Resolve final approvals, transfers, PO links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New open-ended activity restricted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Ensures closure readiness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CLOSED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Historical visibility and reporting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New workflow activity restricted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Preserves approved history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GOVERNANCE &amp;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Budget creation process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Departments create structured annual budget requests using approved categories, item types, quantities, and prices.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Governance &amp; Planning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1465" y="146304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461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4124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Department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Head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824582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9738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962" y="1463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7114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93746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Open Current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77079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2235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6460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9612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46243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Add Budget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Items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29577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4733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8958" y="14630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2110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298741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Review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Totals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82074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723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1455" y="146304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460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45123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Submit for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Approval</a:t>
            </a:r>
            <a:endParaRPr lang="en-US" sz="9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71800"/>
          <a:ext cx="4389120" cy="1920240"/>
        </p:xfrm>
        <a:graphic>
          <a:graphicData uri="http://schemas.openxmlformats.org/drawingml/2006/table">
            <a:tbl>
              <a:tblPr/>
              <a:tblGrid>
                <a:gridCol w="2148840"/>
                <a:gridCol w="2240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Example field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Item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Ultrasound Machine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Quantity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2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Unit Price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180,000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Total Request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360,000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5715000" y="2971800"/>
            <a:ext cx="4846320" cy="192024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98932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Business value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98932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Standardized department planning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Clear budget ownership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Consistent item categories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Controlled submission into approval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GOVERNANCE &amp;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Budget approval process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Approvers review submitted budgets with item detail, benchmark evidence, and approve-or-return actions.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Governance &amp; Planning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1465" y="146304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461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4124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Submitted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824582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9738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962" y="1463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7114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93746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Queue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77079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2235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6460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9612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46243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Item-Level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Review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29577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4733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8958" y="14630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2110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298741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Price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Intelligence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82074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723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1455" y="146304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460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45123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Approve or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Return</a:t>
            </a:r>
            <a:endParaRPr lang="en-US" sz="9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743200"/>
          <a:ext cx="10835640" cy="16002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1920240"/>
                <a:gridCol w="2468880"/>
                <a:gridCol w="324612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Unit Price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Historical Benchmark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Office Chair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420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390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 Price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Laptop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20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4,200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3,950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 Price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Patient Monitor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5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19,500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No benchmark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Manual review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822960" y="4846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Approval value: reviewers can challenge price assumptions before budget commitment while preserving accountable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GOVERNANCE &amp;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Return and feedback loop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Returned budgets create a controlled correction cycle instead of informal back-and-forth communication.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Governance &amp; Planning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960474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57477" y="155448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0629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78408" y="1929384"/>
            <a:ext cx="183245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Review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879446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4602" y="1417320"/>
            <a:ext cx="1960474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27678" y="155448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0830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048610" y="1929384"/>
            <a:ext cx="183245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Return with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49647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4803" y="1417320"/>
            <a:ext cx="1960474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97880" y="155448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18811" y="1929384"/>
            <a:ext cx="183245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Department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Revision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7019849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25005" y="1417320"/>
            <a:ext cx="1960474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68082" y="15544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1234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189013" y="1929384"/>
            <a:ext cx="183245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Resubmit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090050" y="182422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95206" y="1417320"/>
            <a:ext cx="1960474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38283" y="155448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11435" y="162031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259214" y="1929384"/>
            <a:ext cx="183245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Review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Again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1051560" y="2971800"/>
            <a:ext cx="4800600" cy="1325880"/>
          </a:xfrm>
          <a:prstGeom prst="roundRect">
            <a:avLst>
              <a:gd name="adj" fmla="val 6207"/>
            </a:avLst>
          </a:prstGeom>
          <a:solidFill>
            <a:srgbClr val="FFF4E5"/>
          </a:solidFill>
          <a:ln w="10160">
            <a:solidFill>
              <a:srgbClr val="F5C66C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325880" y="32461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Example return note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36393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Laptop unit price is 22% above historical benchmark. Please confirm specification or revise pricing.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2971800"/>
            <a:ext cx="4526280" cy="1325880"/>
          </a:xfrm>
          <a:prstGeom prst="roundRect">
            <a:avLst>
              <a:gd name="adj" fmla="val 6207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37960" y="3246120"/>
            <a:ext cx="39319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Feedback is documented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Department action is clear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Resubmission remains controlled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GOVERNANCE &amp;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Budget transfers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Approved transfers provide operational flexibility without bypassing Finance control.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Governance &amp; Planning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1465" y="1463040"/>
            <a:ext cx="27432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461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4124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 Item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824582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9738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962" y="14630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7114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93746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Transfer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Request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77079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2235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6460" y="146304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9612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46243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Review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29577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4733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8958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2110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298741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Destination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 Item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82074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723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1455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460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45123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Balances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Updated</a:t>
            </a:r>
            <a:endParaRPr lang="en-US" sz="93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880360"/>
          <a:ext cx="10104120" cy="146304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  <a:gridCol w="2194560"/>
                <a:gridCol w="25146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Transfer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After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Office Furniture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100,000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-SAR 20,000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80,000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Medical Equipment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300,000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+SAR 20,000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320,000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960120" y="47548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Control point: balance movement requires request, approval, and preserved history.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5852160" cy="5852160"/>
          </a:xfrm>
          <a:prstGeom prst="arc">
            <a:avLst/>
          </a:prstGeom>
          <a:solidFill>
            <a:srgbClr val="0F766E">
              <a:alpha val="2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D7FF"/>
                </a:solidFill>
              </a:rPr>
              <a:t>PROCUREMENT &amp; CONTROL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Connecting budgets to purchase activity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PO linking, item mapping, and consumption tracking connect approved plans with real procurement activity.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210312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Procurement &amp; Control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PROCUREMENT &amp;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Purchase Order linking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PO Linking connects procurement usage to approved budget items so balances stay visible.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Procurement &amp; Control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1465" y="1463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461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4124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PO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Record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824582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9738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962" y="1463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7114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93746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Linked to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 Item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77079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2235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6460" y="146304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9612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46243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Review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29577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4733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8958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2110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298741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Consumption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Updated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82074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723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1455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460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45123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Remaining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Balance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1143000" y="297180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143000" y="2971800"/>
            <a:ext cx="73152" cy="114300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44168" y="3127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APPROVED BUDGET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344168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100k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703320" y="297180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03320" y="297180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04488" y="3127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LINKED PO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904488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30k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6263640" y="297180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63640" y="2971800"/>
            <a:ext cx="73152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3127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CONSUMED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64808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30k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8823960" y="2971800"/>
            <a:ext cx="21945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823960" y="297180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25128" y="312724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REMAINING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025128" y="3429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70k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PROCUREMENT &amp;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PO Item Mapping knowledge base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Mappings connect budget item types to procurement item codes for suggestions and benchmarks.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Procurement &amp; Control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3355848" cy="1051560"/>
          </a:xfrm>
          <a:prstGeom prst="roundRect">
            <a:avLst>
              <a:gd name="adj" fmla="val 7826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5164" y="164592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28316" y="171175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78408" y="2020824"/>
            <a:ext cx="322783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 Item Type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Laptop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4274820" y="19613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9976" y="1508760"/>
            <a:ext cx="3355848" cy="1051560"/>
          </a:xfrm>
          <a:prstGeom prst="roundRect">
            <a:avLst>
              <a:gd name="adj" fmla="val 7826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0740" y="164592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3892" y="171175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43984" y="2020824"/>
            <a:ext cx="322783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Mapped PO Codes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17819 / 17820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7740396" y="19613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5552" y="1508760"/>
            <a:ext cx="3355848" cy="1051560"/>
          </a:xfrm>
          <a:prstGeom prst="roundRect">
            <a:avLst>
              <a:gd name="adj" fmla="val 7826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86316" y="164592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59468" y="171175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909560" y="2020824"/>
            <a:ext cx="322783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Historical PO Records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Benchmark Evidence</a:t>
            </a:r>
            <a:endParaRPr lang="en-US" sz="93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3246120"/>
          <a:ext cx="10149840" cy="1965960"/>
        </p:xfrm>
        <a:graphic>
          <a:graphicData uri="http://schemas.openxmlformats.org/drawingml/2006/table">
            <a:tbl>
              <a:tblPr/>
              <a:tblGrid>
                <a:gridCol w="2468880"/>
                <a:gridCol w="76809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Business meaning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Purpose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Create comparable procurement history for budget items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Manual mapping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Administrator creates known valid links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Approved-link learning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Approved PO links can update mappings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Benchmark impact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Mapped item codes define which PO records are used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PROCUREMENT &amp;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Budget consumption tracking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Consumption tracking shows approved, consumed, transferred, and remaining budget value.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Procurement &amp; Control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2468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08760"/>
            <a:ext cx="73152" cy="1170432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664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APPROVED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24128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250k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4048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Approved item budget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3566160" y="1508760"/>
            <a:ext cx="2468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1508760"/>
            <a:ext cx="73152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664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CONSUMED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67328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90k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67328" y="24048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Approved PO links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309360" y="1508760"/>
            <a:ext cx="2468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508760"/>
            <a:ext cx="73152" cy="11704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664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TRANSFER IN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510528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20k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10528" y="24048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Approved movement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9052560" y="1508760"/>
            <a:ext cx="246888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52560" y="1508760"/>
            <a:ext cx="73152" cy="11704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53728" y="166420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AVAILABLE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253728" y="1965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180k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53728" y="240487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Remaining visibility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60120" y="3794760"/>
            <a:ext cx="987552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3794760"/>
            <a:ext cx="352044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3794760"/>
            <a:ext cx="77724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57800" y="3794760"/>
            <a:ext cx="557784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968496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Consumed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17136" y="3968496"/>
            <a:ext cx="685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Transfer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132320" y="3968496"/>
            <a:ext cx="1280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Available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5852160" cy="5852160"/>
          </a:xfrm>
          <a:prstGeom prst="arc">
            <a:avLst/>
          </a:prstGeom>
          <a:solidFill>
            <a:srgbClr val="D97706">
              <a:alpha val="2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D7FF"/>
                </a:solidFill>
              </a:rPr>
              <a:t>DECISION SUPPORT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Historical price evidence for better approvals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Price Intelligence converts procurement history into benchmark, variance, and potential overspend indicators.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2103120" cy="0"/>
          </a:xfrm>
          <a:prstGeom prst="line">
            <a:avLst/>
          </a:prstGeom>
          <a:noFill/>
          <a:ln w="381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Decision Support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DECISION SUPPORT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Price Intelligence overview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Approvers compare proposed unit prices against QNH historical procurement evidence.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Decision Support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61465" y="146304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461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84124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Budget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Item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2824582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9738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13962" y="1463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87114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93746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Mapped PO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Codes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977079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2235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66460" y="14630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9612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146243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Historical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Purchases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29577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34733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18958" y="14630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2110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7298741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Median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Benchmark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 rot="5400000">
            <a:off x="9282074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87230" y="1325880"/>
            <a:ext cx="2042770" cy="960120"/>
          </a:xfrm>
          <a:prstGeom prst="roundRect">
            <a:avLst>
              <a:gd name="adj" fmla="val 8571"/>
            </a:avLst>
          </a:prstGeom>
          <a:solidFill>
            <a:srgbClr val="F1EC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71455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44607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9451238" y="1837944"/>
            <a:ext cx="191475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Approval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Indicator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68680" y="292608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68680" y="2926080"/>
            <a:ext cx="73152" cy="11887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9848" y="3081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BUDGET UNIT PRICE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06984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420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3611880" y="2926080"/>
            <a:ext cx="251460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11880" y="292608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13048" y="3081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HISTORICAL BENCHMARK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813048" y="3383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390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813048" y="382219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Median unit cost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355080" y="2926080"/>
            <a:ext cx="22402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55080" y="2926080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3081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VARIANCE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556248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+7.7%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556248" y="382219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Unit variance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8823960" y="2926080"/>
            <a:ext cx="24231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823960" y="2926080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25128" y="3081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IMPACT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025128" y="3383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1,500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9025128" y="38221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Potential overspend</a:t>
            </a:r>
            <a:endParaRPr lang="en-US" sz="8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DECISION SUPPORT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Benchmark methodology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Median historical price is used because it is more reliable than average when outliers exist.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Decision Support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89611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587752"/>
            <a:ext cx="310896" cy="310896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9008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SAR 90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01952" y="2587752"/>
            <a:ext cx="310896" cy="310896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299008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SAR 95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53512" y="258775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99008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SAR 100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005072" y="2587752"/>
            <a:ext cx="310896" cy="310896"/>
          </a:xfrm>
          <a:prstGeom prst="ellipse">
            <a:avLst/>
          </a:prstGeom>
          <a:solidFill>
            <a:srgbClr val="1E5AA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299008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SAR 105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22792" y="2587752"/>
            <a:ext cx="310896" cy="3108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99008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SAR 500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05840" y="3794760"/>
            <a:ext cx="4480560" cy="1143000"/>
          </a:xfrm>
          <a:prstGeom prst="roundRect">
            <a:avLst>
              <a:gd name="adj" fmla="val 7200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80160" y="4096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</a:rPr>
              <a:t>Average = SAR 178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4805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Distorted by one outlier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3794760"/>
            <a:ext cx="4480560" cy="1143000"/>
          </a:xfrm>
          <a:prstGeom prst="roundRect">
            <a:avLst>
              <a:gd name="adj" fmla="val 7200"/>
            </a:avLst>
          </a:prstGeom>
          <a:solidFill>
            <a:srgbClr val="FFF4E5"/>
          </a:solidFill>
          <a:ln w="10160">
            <a:solidFill>
              <a:srgbClr val="F5C66C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72200" y="4096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</a:rPr>
              <a:t>Median = SAR 100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72200" y="44805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Better reflects typical purchasing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DECISION SUPPORT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Variance and potential overspend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Unit-price variance becomes CFO-relevant when multiplied by requested quantity.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Decision Support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19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1600200"/>
          <a:ext cx="4389120" cy="2743200"/>
        </p:xfrm>
        <a:graphic>
          <a:graphicData uri="http://schemas.openxmlformats.org/drawingml/2006/table">
            <a:tbl>
              <a:tblPr/>
              <a:tblGrid>
                <a:gridCol w="2606040"/>
                <a:gridCol w="1783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Unit Price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420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Historical Benchmark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390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Unit Variance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30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Quantity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50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Potential Overspend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SAR 1,500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72200" y="1600200"/>
            <a:ext cx="4754880" cy="2971800"/>
          </a:xfrm>
          <a:prstGeom prst="roundRect">
            <a:avLst>
              <a:gd name="adj" fmla="val 2769"/>
            </a:avLst>
          </a:prstGeom>
          <a:solidFill>
            <a:srgbClr val="FEECEC"/>
          </a:solidFill>
          <a:ln w="10160">
            <a:solidFill>
              <a:srgbClr val="F9B7B7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</a:rPr>
              <a:t>(420 - 390) x 50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92240" y="2788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C2626"/>
                </a:solidFill>
              </a:rPr>
              <a:t>= SAR 1,500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6629400" y="370332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Potential budget exposure if approved at the proposed unit price.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DECISION SUPPORT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Evidence strength and risk status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Benchmarks are explainable: users see evidence strength, purchase count, supplier count, and status.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Decision Support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20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17320"/>
          <a:ext cx="1083564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5166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Approver action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Within Benchmark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Variance &lt;= 5%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 normally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 Price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&gt; 5% and &lt;= 15%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Check specification or justification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Significant Variance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&gt; 15% and &lt;= 30%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Challenge price assumptions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High Overspend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&gt; 30%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Require strong justification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No Benchmark Available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No mapped history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Manual review and improve mappings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1005840" y="466344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4663440"/>
            <a:ext cx="73152" cy="9601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07008" y="4818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PURCHASE COUNT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207008" y="5120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207008" y="55595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Historical records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3794760" y="466344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94760" y="466344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95928" y="4818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SUPPLIER COUNT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995928" y="5120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995928" y="55595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Evidence diversity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583680" y="466344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83680" y="4663440"/>
            <a:ext cx="73152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84848" y="481888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EVIDENCE WINDOW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784848" y="512064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24 mo.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784848" y="55595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Recent history</a:t>
            </a:r>
            <a:endParaRPr lang="en-US" sz="820" dirty="0"/>
          </a:p>
        </p:txBody>
      </p:sp>
      <p:sp>
        <p:nvSpPr>
          <p:cNvPr id="24" name="Shape 21"/>
          <p:cNvSpPr/>
          <p:nvPr/>
        </p:nvSpPr>
        <p:spPr>
          <a:xfrm>
            <a:off x="9372600" y="4663440"/>
            <a:ext cx="201168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372600" y="466344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73768" y="48188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STRENGTH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9573768" y="5120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HIGH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9573768" y="55595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Trusted signal</a:t>
            </a:r>
            <a:endParaRPr lang="en-US" sz="8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5852160" cy="5852160"/>
          </a:xfrm>
          <a:prstGeom prst="arc">
            <a:avLst/>
          </a:prstGeom>
          <a:solidFill>
            <a:srgbClr val="6D28D9">
              <a:alpha val="22000"/>
            </a:srgbClr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D7FF"/>
                </a:solidFill>
              </a:rPr>
              <a:t>VISIBILITY &amp; REPORTING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Turning workflow data into management insight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Dashboards, analytics, notifications, and reporting help leaders monitor status, risk, and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2103120" cy="0"/>
          </a:xfrm>
          <a:prstGeom prst="line">
            <a:avLst/>
          </a:prstGeom>
          <a:noFill/>
          <a:ln w="38100">
            <a:solidFill>
              <a:srgbClr val="6D28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Visibility &amp; Reporting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VISIBILITY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Budget Analytics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Analytics enables Finance to compare budgets, departments, categories, item costs, and risk patterns.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Visibility &amp; Reporting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325880"/>
            <a:ext cx="5029200" cy="4023360"/>
          </a:xfrm>
          <a:prstGeom prst="roundRect">
            <a:avLst>
              <a:gd name="adj" fmla="val 2045"/>
            </a:avLst>
          </a:prstGeom>
          <a:solidFill>
            <a:srgbClr val="F8FAFC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[Budget Analytics Screenshot]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645920"/>
            <a:ext cx="438912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Compare department budgets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Identify high variance 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Review missing benchmarks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Explore year-over-year patterns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46520" y="3429000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46520" y="3429000"/>
            <a:ext cx="73152" cy="9601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USERS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647688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CFO / Finance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915400" y="3429000"/>
            <a:ext cx="205740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15400" y="3429000"/>
            <a:ext cx="73152" cy="96012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VALUE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16568" y="3886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Investigate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16568" y="432511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</a:rPr>
              <a:t>Outliers and trends</a:t>
            </a:r>
            <a:endParaRPr lang="en-US" sz="8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VISIBILITY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Executive dashboards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Dashboards provide role-based visibility into budget status, workload, and action requirements.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Visibility &amp; Reporting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17320"/>
            <a:ext cx="73152" cy="1097280"/>
          </a:xfrm>
          <a:prstGeom prst="rect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572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PENDING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APPROVALS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78408" y="1874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417320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572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RETURNED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BUDGETS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727448" y="1874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4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41732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157276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HIGH RISK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ITEMS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76488" y="1874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288036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288036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30358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PO LINKS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PENDING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978408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7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526280" y="288036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2880360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30358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POTENTIAL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OVERSPEND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27448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SAR 18.5k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275320" y="2880360"/>
            <a:ext cx="315468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75320" y="2880360"/>
            <a:ext cx="73152" cy="10972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30358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MISSING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BENCHMARKS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476488" y="33375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4400" y="4937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4748B"/>
                </a:solidFill>
              </a:rPr>
              <a:t>[Budget Dashboard Screenshot Placeholder]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VISIBILITY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Reporting framework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Reporting provides formal operational, financial, governance, and executive views beyond dashboards.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Visibility &amp; Reporting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24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10972800" cy="4160520"/>
        </p:xfrm>
        <a:graphic>
          <a:graphicData uri="http://schemas.openxmlformats.org/drawingml/2006/table">
            <a:tbl>
              <a:tblPr/>
              <a:tblGrid>
                <a:gridCol w="2834640"/>
                <a:gridCol w="3749040"/>
                <a:gridCol w="4389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Report category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Primary users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Decision supported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Status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CFO, Finance, Department Heads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Lifecycle visibility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Approval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CFO, Approvers, Auditors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Decision and workload evidence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Finance, Approvers, Auditors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Balance movement explanation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Linking / Consumption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Finance, Procurement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Procurement-to-budget transparency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Price Intelligence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CFO, Approvers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Variance and overspend review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Audit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Auditors, Admins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Governance traceability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5623560"/>
            <a:ext cx="2286000" cy="310896"/>
          </a:xfrm>
          <a:prstGeom prst="roundRect">
            <a:avLst>
              <a:gd name="adj" fmla="val 26471"/>
            </a:avLst>
          </a:prstGeom>
          <a:solidFill>
            <a:srgbClr val="F1ECFF"/>
          </a:solidFill>
          <a:ln w="10160">
            <a:solidFill>
              <a:srgbClr val="F1ECFF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" y="5715000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</a:rPr>
              <a:t>Advanced Reporting: Planned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VISIBILITY &amp; REPORTING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Email notifications and workflow automation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Notifications reduce manual follow-up by informing the right stakeholders when action is required.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Visibility &amp; Reporting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1325880"/>
            <a:ext cx="1997964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2062" y="146304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5214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84248" y="1837944"/>
            <a:ext cx="18699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Trigger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 rot="5400000">
            <a:off x="3922776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7932" y="1325880"/>
            <a:ext cx="1997964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89754" y="1463040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62906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091940" y="1837944"/>
            <a:ext cx="18699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Recipient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30468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35624" y="1325880"/>
            <a:ext cx="1997964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97446" y="146304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70598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199632" y="1837944"/>
            <a:ext cx="18699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Business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Purpose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 rot="5400000">
            <a:off x="8138160" y="173278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43316" y="1325880"/>
            <a:ext cx="1997964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05138" y="146304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78290" y="152887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8307324" y="1837944"/>
            <a:ext cx="18699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Action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Taken</a:t>
            </a:r>
            <a:endParaRPr lang="en-US" sz="93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788920"/>
          <a:ext cx="1014984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3017520"/>
                <a:gridCol w="39319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Recipient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Business purpose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Submitted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Approver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 required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Returned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Department Owner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Revise and resubmit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 Submitted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 Approver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Approve or reject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Link Submitted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Link Approver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Validate procurement linkage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Financial Year Opened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Relevant users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Begin planning cycle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5852160" cy="5852160"/>
          </a:xfrm>
          <a:prstGeom prst="arc">
            <a:avLst/>
          </a:prstGeom>
          <a:solidFill>
            <a:srgbClr val="16A34A">
              <a:alpha val="2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D7FF"/>
                </a:solidFill>
              </a:rPr>
              <a:t>SECURITY &amp; GOVERNANCE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Permissions, auditability, and control discipline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Role-based permissions and audit logs support segregation of duties and accountability.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210312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Security &amp; Governance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SECURITY &amp;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Security and permissions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Users can only view or perform actions aligned with their financial responsibilities.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Security &amp; Governance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27</a:t>
            </a:r>
            <a:endParaRPr lang="en-US" sz="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4069080"/>
        </p:xfrm>
        <a:graphic>
          <a:graphicData uri="http://schemas.openxmlformats.org/drawingml/2006/table">
            <a:tbl>
              <a:tblPr/>
              <a:tblGrid>
                <a:gridCol w="3108960"/>
                <a:gridCol w="7726680"/>
              </a:tblGrid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Role / responsibility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Business capabilities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Department Head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Create, edit, submit, monitor department budgets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Approver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Review, approve, return, compare, analyze budgets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 Approver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Review and decide transfer requests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Link User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Request or approve PO links based on role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Administrator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Manage users, roles, financial years, categories, mappings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12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Report Viewer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Access reports based on permission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SECURITY &amp;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Audit logs and governance evidence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Audit logs preserve evidence of key financial actions, supporting accountability and audit readiness.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Security &amp; Governance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475488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Financial year opened / pre-closed / closed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Budget submitted / approved / returned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Transfer requested / approved / rejected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PO link submitted / approved / rejected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• Item request and access activity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417320"/>
          <a:ext cx="525780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315468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Governance question answered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returned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Who returned it, when, and why?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 approved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Who approved balance movement?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link approved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Which PO consumed which budget item?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Financial year closed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Were unresolved activities cleared?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097280" y="4892040"/>
            <a:ext cx="9784080" cy="621792"/>
          </a:xfrm>
          <a:prstGeom prst="roundRect">
            <a:avLst>
              <a:gd name="adj" fmla="val 13235"/>
            </a:avLst>
          </a:prstGeom>
          <a:solidFill>
            <a:srgbClr val="EAF8EF"/>
          </a:solidFill>
          <a:ln w="10160">
            <a:solidFill>
              <a:srgbClr val="BFE7CC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325880" y="5102352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Executive value: decisions can be explained after the fact with a reliable action history.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1097280"/>
            <a:ext cx="5852160" cy="5852160"/>
          </a:xfrm>
          <a:prstGeom prst="arc">
            <a:avLst/>
          </a:prstGeom>
          <a:solidFill>
            <a:srgbClr val="1E5AA8">
              <a:alpha val="22000"/>
            </a:srgbClr>
          </a:solidFill>
          <a:ln w="12700">
            <a:solidFill>
              <a:srgbClr val="1E5AA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87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FD7FF"/>
                </a:solidFill>
              </a:rPr>
              <a:t>BUSINESS VALUE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Better control, transparency, and risk reduction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</a:rPr>
              <a:t>The system creates measurable value for departments, approvers, Finance leadership, and the CFO.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0"/>
            <a:ext cx="2103120" cy="0"/>
          </a:xfrm>
          <a:prstGeom prst="line">
            <a:avLst/>
          </a:prstGeom>
          <a:noFill/>
          <a:ln w="38100">
            <a:solidFill>
              <a:srgbClr val="1E5A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Business Value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BUSINESS VALUE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Benefits by stakeholder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system improves daily work for departments while strengthening executive financial oversight.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Business Value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3337560" cy="3246120"/>
          </a:xfrm>
          <a:prstGeom prst="roundRect">
            <a:avLst>
              <a:gd name="adj" fmla="val 2535"/>
            </a:avLst>
          </a:prstGeom>
          <a:solidFill>
            <a:srgbClr val="EAF2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AA8"/>
                </a:solidFill>
              </a:rPr>
              <a:t>Department Heads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97280" y="2514600"/>
            <a:ext cx="26974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Structured planning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Clear feedback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Budget status visibility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508760"/>
            <a:ext cx="3337560" cy="3246120"/>
          </a:xfrm>
          <a:prstGeom prst="roundRect">
            <a:avLst>
              <a:gd name="adj" fmla="val 2535"/>
            </a:avLst>
          </a:prstGeom>
          <a:solidFill>
            <a:srgbClr val="E6F7F4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</a:rPr>
              <a:t>Approvers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2514600"/>
            <a:ext cx="26974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Faster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Historical price evidence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Controlled return workflow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1508760"/>
            <a:ext cx="3337560" cy="3246120"/>
          </a:xfrm>
          <a:prstGeom prst="roundRect">
            <a:avLst>
              <a:gd name="adj" fmla="val 2535"/>
            </a:avLst>
          </a:prstGeom>
          <a:solidFill>
            <a:srgbClr val="F1EC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8D9"/>
                </a:solidFill>
              </a:rPr>
              <a:t>CFO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0" y="2514600"/>
            <a:ext cx="269748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Financial visibility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Procurement transparency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• Audit readiness and risk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BUSINESS VALUE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Financial control framework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Controls are embedded across planning, approval, procurement, consumption, and closure.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Business Value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24712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5AA8"/>
                </a:solidFill>
              </a:rPr>
              <a:t>Status Controls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4712" y="2039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Financial year and budget statuses govern allowed 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6733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Approval Gates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5392" y="20391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Budgets, transfers, and PO links require review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10896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2471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Balance Controls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24712" y="3730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Consumption and transfers affect available budget visibility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310896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65392" y="3364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</a:rPr>
              <a:t>Closure Controls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65392" y="37307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Unresolved transfers and PO links are addressed before close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51663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Result: budget changes and consumption become visible, governed, and explainable.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BUSINESS VALUE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Risk reduction matrix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platform reduces financial, approval, procurement, closure, audit, and data-quality risk.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Business Value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32</a:t>
            </a:r>
            <a:endParaRPr lang="en-US" sz="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18520" cy="429768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709160"/>
              </a:tblGrid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Risk type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Example risk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System control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Financial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Budgets approved without price context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Price Intelligence and approval review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Approval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Budgets bypass formal review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Approval workflow and permissions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Procurement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usage disconnected from budgets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Linking and consumption tracking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Budget value moved informally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Transfer approval workflow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Audit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Decisions cannot be explained later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Audit logs and workflow history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Data quality risk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Procurement history not comparable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PO Item Mapping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5AA8"/>
                </a:solidFill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Current capabilities and roadmap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current platform covers the core lifecycle, with planned enhancements for projects, vendors, reporting, and smarter analytics.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6473952"/>
            <a:ext cx="11173968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Roadmap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1120140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33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1083564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86410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</a:rPr>
                        <a:t>Capabilities</a:t>
                      </a:r>
                      <a:endParaRPr lang="en-US" sz="820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Implemented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Financial years, budget creation, approval, returns, transfers, PO linking, PO mapping, Price Intelligence, dashboards, audit, permissions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Partial / Foundation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Projects visibility foundation, budget analytics workspace, reports entry point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Planned Near-Term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Projects expansion, Companies/Vendors, Advanced Reporting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Future Vision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0F172A"/>
                          </a:solidFill>
                        </a:rPr>
                        <a:t>Smart Analytics Filters, AI-Assisted Budget Discovery, Executive Intelligence, Procurement Intelligence</a:t>
                      </a:r>
                      <a:endParaRPr lang="en-US" sz="815" dirty="0"/>
                    </a:p>
                  </a:txBody>
                  <a:tcPr marL="45720" marR="45720" marT="45720" marB="45720">
                    <a:lnL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255" cap="flat" cmpd="sng" algn="ctr">
                      <a:solidFill>
                        <a:srgbClr val="DD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60120" y="4434840"/>
            <a:ext cx="2478024" cy="960120"/>
          </a:xfrm>
          <a:prstGeom prst="roundRect">
            <a:avLst>
              <a:gd name="adj" fmla="val 8571"/>
            </a:avLst>
          </a:prstGeom>
          <a:solidFill>
            <a:srgbClr val="EAF2F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61972" y="457200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35124" y="463783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024128" y="4946904"/>
            <a:ext cx="23500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Implemented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Core lifecycle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 rot="5400000">
            <a:off x="3442716" y="484174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47872" y="4434840"/>
            <a:ext cx="2478024" cy="960120"/>
          </a:xfrm>
          <a:prstGeom prst="roundRect">
            <a:avLst>
              <a:gd name="adj" fmla="val 8571"/>
            </a:avLst>
          </a:prstGeom>
          <a:solidFill>
            <a:srgbClr val="E6F7F4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49724" y="4572000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22876" y="463783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611880" y="4946904"/>
            <a:ext cx="23500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Near-Term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Reporting + projects</a:t>
            </a:r>
            <a:endParaRPr lang="en-US" sz="930" dirty="0"/>
          </a:p>
        </p:txBody>
      </p:sp>
      <p:sp>
        <p:nvSpPr>
          <p:cNvPr id="18" name="Shape 15"/>
          <p:cNvSpPr/>
          <p:nvPr/>
        </p:nvSpPr>
        <p:spPr>
          <a:xfrm rot="5400000">
            <a:off x="6030468" y="484174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35624" y="4434840"/>
            <a:ext cx="2478024" cy="960120"/>
          </a:xfrm>
          <a:prstGeom prst="roundRect">
            <a:avLst>
              <a:gd name="adj" fmla="val 8571"/>
            </a:avLst>
          </a:prstGeom>
          <a:solidFill>
            <a:srgbClr val="EAF8EF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237476" y="4572000"/>
            <a:ext cx="274320" cy="274320"/>
          </a:xfrm>
          <a:prstGeom prst="ellipse">
            <a:avLst/>
          </a:prstGeom>
          <a:solidFill>
            <a:srgbClr val="1E5AA8"/>
          </a:solidFill>
          <a:ln w="12700">
            <a:solidFill>
              <a:srgbClr val="1E5A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0628" y="463783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199632" y="4946904"/>
            <a:ext cx="23500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Future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Smart analytics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 rot="5400000">
            <a:off x="8618220" y="4841748"/>
            <a:ext cx="100584" cy="146304"/>
          </a:xfrm>
          <a:prstGeom prst="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723376" y="4434840"/>
            <a:ext cx="2478024" cy="960120"/>
          </a:xfrm>
          <a:prstGeom prst="roundRect">
            <a:avLst>
              <a:gd name="adj" fmla="val 8571"/>
            </a:avLst>
          </a:prstGeom>
          <a:solidFill>
            <a:srgbClr val="FFF4E5"/>
          </a:solidFill>
          <a:ln w="10160">
            <a:solidFill>
              <a:srgbClr val="D8E3F0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825228" y="4572000"/>
            <a:ext cx="274320" cy="27432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898380" y="4637837"/>
            <a:ext cx="1280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8787384" y="4946904"/>
            <a:ext cx="235000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Vision</a:t>
            </a:r>
            <a:endParaRPr lang="en-US" sz="930" dirty="0"/>
          </a:p>
          <a:p>
            <a:pPr algn="ctr"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Executive intelligence</a:t>
            </a:r>
            <a:endParaRPr lang="en-US" sz="9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D7FF"/>
                </a:solidFill>
              </a:rPr>
              <a:t>QNH Budget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 stronger foundation for disciplined budget governance, procurement transparency, and evidence-based financial decisions.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3246120" cy="658368"/>
          </a:xfrm>
          <a:prstGeom prst="roundRect">
            <a:avLst>
              <a:gd name="adj" fmla="val 12500"/>
            </a:avLst>
          </a:prstGeom>
          <a:solidFill>
            <a:srgbClr val="123B63"/>
          </a:solidFill>
          <a:ln w="10160">
            <a:solidFill>
              <a:srgbClr val="2A5177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41832" y="38496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7FF"/>
                </a:solidFill>
              </a:rPr>
              <a:t>Governance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94560" y="3840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Controlled lifecycle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434840" y="3703320"/>
            <a:ext cx="3246120" cy="658368"/>
          </a:xfrm>
          <a:prstGeom prst="roundRect">
            <a:avLst>
              <a:gd name="adj" fmla="val 12500"/>
            </a:avLst>
          </a:prstGeom>
          <a:solidFill>
            <a:srgbClr val="123B63"/>
          </a:solidFill>
          <a:ln w="10160">
            <a:solidFill>
              <a:srgbClr val="2A5177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99432" y="38496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7FF"/>
                </a:solidFill>
              </a:rPr>
              <a:t>Financial Control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0" y="3840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Approval and balance discipline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092440" y="3703320"/>
            <a:ext cx="3246120" cy="658368"/>
          </a:xfrm>
          <a:prstGeom prst="roundRect">
            <a:avLst>
              <a:gd name="adj" fmla="val 12500"/>
            </a:avLst>
          </a:prstGeom>
          <a:solidFill>
            <a:srgbClr val="123B63"/>
          </a:solidFill>
          <a:ln w="10160">
            <a:solidFill>
              <a:srgbClr val="2A5177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57032" y="38496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7FF"/>
                </a:solidFill>
              </a:rPr>
              <a:t>Procurement Visibility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509760" y="38404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PO-linked consumption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3246120" cy="658368"/>
          </a:xfrm>
          <a:prstGeom prst="roundRect">
            <a:avLst>
              <a:gd name="adj" fmla="val 12500"/>
            </a:avLst>
          </a:prstGeom>
          <a:solidFill>
            <a:srgbClr val="123B63"/>
          </a:solidFill>
          <a:ln w="10160">
            <a:solidFill>
              <a:srgbClr val="2A5177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41832" y="47640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7FF"/>
                </a:solidFill>
              </a:rPr>
              <a:t>Decision Support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94560" y="4754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Historical benchmarks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434840" y="4617720"/>
            <a:ext cx="3246120" cy="658368"/>
          </a:xfrm>
          <a:prstGeom prst="roundRect">
            <a:avLst>
              <a:gd name="adj" fmla="val 12500"/>
            </a:avLst>
          </a:prstGeom>
          <a:solidFill>
            <a:srgbClr val="123B63"/>
          </a:solidFill>
          <a:ln w="10160">
            <a:solidFill>
              <a:srgbClr val="2A5177"/>
            </a:solidFill>
            <a:prstDash val="solid"/>
          </a:ln>
          <a:effectLst>
            <a:outerShdw sx="100000" sy="100000" kx="0" ky="0" algn="bl" rotWithShape="0" blurRad="12700" dist="50800" dir="2700000">
              <a:srgbClr val="9AA7B5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99432" y="47640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D7FF"/>
                </a:solidFill>
              </a:rPr>
              <a:t>Future Vision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0" y="475488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</a:rPr>
              <a:t>Projects, vendors, reporting, smart filters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31520" y="6263640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F0"/>
                </a:solidFill>
              </a:rPr>
              <a:t>Prepared for CFO, Finance Leadership, Hospital Executives, and Department Directors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Qassim National Hospital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QNH Budget System Executive Presentation</dc:title>
  <dc:subject>Executive presentation</dc:subject>
  <dc:creator>QNH Budget Management System</dc:creator>
  <cp:lastModifiedBy>QNH Budget Management System</cp:lastModifiedBy>
  <cp:revision>1</cp:revision>
  <dcterms:created xsi:type="dcterms:W3CDTF">2026-06-21T12:32:57Z</dcterms:created>
  <dcterms:modified xsi:type="dcterms:W3CDTF">2026-06-21T12:32:57Z</dcterms:modified>
</cp:coreProperties>
</file>